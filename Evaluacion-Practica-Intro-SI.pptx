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EVALUACIÓN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320040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Unidad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Auditoría 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de Información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6858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INTRODUCCIÓN A 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6858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SISTEMAS DE INFORMACIÓN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657600"/>
            <a:ext cx="6858000" cy="2286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38404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⏱ Duración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114800"/>
            <a:ext cx="6400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Calibri"/>
              </a:rPr>
              <a:t>90 minutos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7548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📝 Entregable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5029200"/>
            <a:ext cx="6400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Calibri"/>
              </a:rPr>
              <a:t>4 GitHub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6692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🎯 Calificación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94360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Hasta 20 puntos · Aprobación: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64008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El 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Analiza una nueva aplicación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65176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08760" y="2560320"/>
            <a:ext cx="73152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560320"/>
            <a:ext cx="7315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E3A5F"/>
                </a:solidFill>
                <a:latin typeface="Calibri"/>
              </a:rPr>
              <a:t>OBSERVAR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Explora la app
como usuario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286000"/>
            <a:ext cx="265176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731520" cy="731520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560320"/>
            <a:ext cx="7315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6576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86A33"/>
                </a:solidFill>
                <a:latin typeface="Calibri"/>
              </a:rPr>
              <a:t>DETECTAR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20624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Identifica
problemas reales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286000"/>
            <a:ext cx="265176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79" y="2560320"/>
            <a:ext cx="7315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2560320"/>
            <a:ext cx="7315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Calibri"/>
              </a:rPr>
              <a:t>JUSTIFICAR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Relaciona con
conceptos de clase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2286000"/>
            <a:ext cx="265176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49840" y="2560320"/>
            <a:ext cx="731520" cy="73152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560320"/>
            <a:ext cx="7315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65760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Calibri"/>
              </a:rPr>
              <a:t>PROPONER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420624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Sugiere soluciones
concretas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Esta evaluación NO es una tarea para la casa. Todo se hace en estos 90 minutos.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640080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Bloque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¿Qué debes buscar?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Cinco categorías de problemas que debes explorar.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566160" cy="1691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1E3A5F"/>
                </a:solidFill>
                <a:latin typeface="Calibri"/>
              </a:rPr>
              <a:t>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Componentes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Personas, datos, software, hardware, redes, procesos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566160" cy="1691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E86A33"/>
                </a:solidFill>
                <a:latin typeface="Calibri"/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6060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86A33"/>
                </a:solidFill>
                <a:latin typeface="Calibri"/>
              </a:rPr>
              <a:t>Riesgos CID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5468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Confidencialidad · Integridad · Disponibilidad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68880"/>
            <a:ext cx="3566160" cy="1691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6060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10B981"/>
                </a:solidFill>
                <a:latin typeface="Calibri"/>
              </a:rPr>
              <a:t>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6060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Mantenimiento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5468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Correctivo · Preventivo · Adaptativo · Perfectivo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89120"/>
            <a:ext cx="3566160" cy="1691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2E5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2E5C8A"/>
                </a:solidFill>
                <a:latin typeface="Calibri"/>
              </a:rPr>
              <a:t>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52628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E5C8A"/>
                </a:solidFill>
                <a:latin typeface="Calibri"/>
              </a:rPr>
              <a:t>Ética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Decisiones, transparencia, responsabilidad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389120"/>
            <a:ext cx="3566160" cy="16916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1E3A5F"/>
                </a:solidFill>
                <a:latin typeface="Calibri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52628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Privacidad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07492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Datos personales, tratamiento, proporcionalidad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640080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Bloque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Tu misión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51760" cy="3657600"/>
          </a:xfrm>
          <a:prstGeom prst="roundRect">
            <a:avLst/>
          </a:prstGeom>
          <a:solidFill>
            <a:srgbClr val="2E5C8A"/>
          </a:solidFill>
          <a:ln w="19050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860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200" b="1">
                <a:solidFill>
                  <a:srgbClr val="E86A33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Explorar</a:t>
            </a:r>
          </a:p>
        </p:txBody>
      </p:sp>
      <p:sp>
        <p:nvSpPr>
          <p:cNvPr id="9" name="Up-Down Arrow Callout 8"/>
          <p:cNvSpPr/>
          <p:nvPr/>
        </p:nvSpPr>
        <p:spPr>
          <a:xfrm>
            <a:off x="3246120" y="3566160"/>
            <a:ext cx="182880" cy="182880"/>
          </a:xfrm>
          <a:prstGeom prst="upDownArrowCallou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651760" cy="3657600"/>
          </a:xfrm>
          <a:prstGeom prst="roundRect">
            <a:avLst/>
          </a:prstGeom>
          <a:solidFill>
            <a:srgbClr val="2E5C8A"/>
          </a:solidFill>
          <a:ln w="19050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86000"/>
            <a:ext cx="22860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200" b="1">
                <a:solidFill>
                  <a:srgbClr val="E86A33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11480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Detectar</a:t>
            </a:r>
          </a:p>
        </p:txBody>
      </p:sp>
      <p:sp>
        <p:nvSpPr>
          <p:cNvPr id="13" name="Up-Down Arrow Callout 12"/>
          <p:cNvSpPr/>
          <p:nvPr/>
        </p:nvSpPr>
        <p:spPr>
          <a:xfrm>
            <a:off x="6126480" y="3566160"/>
            <a:ext cx="182880" cy="182880"/>
          </a:xfrm>
          <a:prstGeom prst="upDownArrowCallou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59" y="2103120"/>
            <a:ext cx="2651760" cy="3657600"/>
          </a:xfrm>
          <a:prstGeom prst="roundRect">
            <a:avLst/>
          </a:prstGeom>
          <a:solidFill>
            <a:srgbClr val="2E5C8A"/>
          </a:solidFill>
          <a:ln w="19050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22860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200" b="1">
                <a:solidFill>
                  <a:srgbClr val="E86A33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Analizar</a:t>
            </a:r>
          </a:p>
        </p:txBody>
      </p:sp>
      <p:sp>
        <p:nvSpPr>
          <p:cNvPr id="17" name="Up-Down Arrow Callout 16"/>
          <p:cNvSpPr/>
          <p:nvPr/>
        </p:nvSpPr>
        <p:spPr>
          <a:xfrm>
            <a:off x="9006840" y="3566160"/>
            <a:ext cx="182880" cy="182880"/>
          </a:xfrm>
          <a:prstGeom prst="upDownArrowCallou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89719" y="2103120"/>
            <a:ext cx="2651760" cy="3657600"/>
          </a:xfrm>
          <a:prstGeom prst="roundRect">
            <a:avLst/>
          </a:prstGeom>
          <a:solidFill>
            <a:srgbClr val="2E5C8A"/>
          </a:solidFill>
          <a:ln w="19050"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9" y="2286000"/>
            <a:ext cx="22860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200" b="1">
                <a:solidFill>
                  <a:srgbClr val="E86A33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411480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Documentar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E86A33"/>
                </a:solidFill>
                <a:latin typeface="Calibri"/>
              </a:rPr>
              <a:t>→  Crear EXACTAMENTE 4 Issues al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640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Bloque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Estructura de tu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6A33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Hallazgo</a:t>
            </a:r>
          </a:p>
        </p:txBody>
      </p:sp>
      <p:sp>
        <p:nvSpPr>
          <p:cNvPr id="8" name="Up-Down Arrow Callout 7"/>
          <p:cNvSpPr/>
          <p:nvPr/>
        </p:nvSpPr>
        <p:spPr>
          <a:xfrm>
            <a:off x="3200400" y="2011680"/>
            <a:ext cx="365760" cy="182880"/>
          </a:xfrm>
          <a:prstGeom prst="upDownArrowCallou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874519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Qué problema identificaste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6A33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68879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Evidencia</a:t>
            </a:r>
          </a:p>
        </p:txBody>
      </p:sp>
      <p:sp>
        <p:nvSpPr>
          <p:cNvPr id="12" name="Up-Down Arrow Callout 11"/>
          <p:cNvSpPr/>
          <p:nvPr/>
        </p:nvSpPr>
        <p:spPr>
          <a:xfrm>
            <a:off x="3200400" y="2606040"/>
            <a:ext cx="365760" cy="182880"/>
          </a:xfrm>
          <a:prstGeom prst="upDownArrowCallou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468879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Dónde ocurre · cómo comprobarlo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63239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6A33"/>
                </a:solidFill>
                <a:latin typeface="Calibri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63239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Concepto</a:t>
            </a:r>
          </a:p>
        </p:txBody>
      </p:sp>
      <p:sp>
        <p:nvSpPr>
          <p:cNvPr id="16" name="Up-Down Arrow Callout 15"/>
          <p:cNvSpPr/>
          <p:nvPr/>
        </p:nvSpPr>
        <p:spPr>
          <a:xfrm>
            <a:off x="3200400" y="3200400"/>
            <a:ext cx="365760" cy="182880"/>
          </a:xfrm>
          <a:prstGeom prst="upDownArrowCallou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3063239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Qué tema visto en clase se relaciona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6A33"/>
                </a:solidFill>
                <a:latin typeface="Calibri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5760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Justificación</a:t>
            </a:r>
          </a:p>
        </p:txBody>
      </p:sp>
      <p:sp>
        <p:nvSpPr>
          <p:cNvPr id="20" name="Up-Down Arrow Callout 19"/>
          <p:cNvSpPr/>
          <p:nvPr/>
        </p:nvSpPr>
        <p:spPr>
          <a:xfrm>
            <a:off x="3200400" y="3794760"/>
            <a:ext cx="365760" cy="182880"/>
          </a:xfrm>
          <a:prstGeom prst="upDownArrowCallou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3657600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Por qué es un problema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59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6A33"/>
                </a:solidFill>
                <a:latin typeface="Calibri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51959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Impacto</a:t>
            </a:r>
          </a:p>
        </p:txBody>
      </p:sp>
      <p:sp>
        <p:nvSpPr>
          <p:cNvPr id="24" name="Up-Down Arrow Callout 23"/>
          <p:cNvSpPr/>
          <p:nvPr/>
        </p:nvSpPr>
        <p:spPr>
          <a:xfrm>
            <a:off x="3200400" y="4389120"/>
            <a:ext cx="365760" cy="182880"/>
          </a:xfrm>
          <a:prstGeom prst="upDownArrowCallou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4251959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Qué puede ocurrir · a quién afecta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6A33"/>
                </a:solidFill>
                <a:latin typeface="Calibri"/>
              </a:rPr>
              <a:t>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4632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Severidad</a:t>
            </a:r>
          </a:p>
        </p:txBody>
      </p:sp>
      <p:sp>
        <p:nvSpPr>
          <p:cNvPr id="28" name="Up-Down Arrow Callout 27"/>
          <p:cNvSpPr/>
          <p:nvPr/>
        </p:nvSpPr>
        <p:spPr>
          <a:xfrm>
            <a:off x="3200400" y="4983480"/>
            <a:ext cx="365760" cy="182880"/>
          </a:xfrm>
          <a:prstGeom prst="upDownArrowCallou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4846320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Baja / Media / Alta (con justificación)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40680"/>
            <a:ext cx="457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86A33"/>
                </a:solidFill>
                <a:latin typeface="Calibri"/>
              </a:rPr>
              <a:t>7.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4068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Propuesta</a:t>
            </a:r>
          </a:p>
        </p:txBody>
      </p:sp>
      <p:sp>
        <p:nvSpPr>
          <p:cNvPr id="32" name="Up-Down Arrow Callout 31"/>
          <p:cNvSpPr/>
          <p:nvPr/>
        </p:nvSpPr>
        <p:spPr>
          <a:xfrm>
            <a:off x="3200400" y="5577840"/>
            <a:ext cx="365760" cy="182880"/>
          </a:xfrm>
          <a:prstGeom prst="upDownArrowCallou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39" y="5440680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Cómo solucionarlo (concreta)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035040"/>
            <a:ext cx="10972800" cy="4572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080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Etiqueta obligatoria: hallazgo-si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640080" cy="73152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E5C8A"/>
                </a:solidFill>
                <a:latin typeface="Calibri"/>
              </a:rPr>
              <a:t>Bloque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Conceptos que puedes aplicar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Cualquier hallazgo puede vincularse con uno o varios de estos temas.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Definición de SI (Laudon)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Modelo Entrada → Proceso → Salida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Los 6 componentes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Tipos TPS · MIS · DSS · 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348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Roles en un 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920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Proceso vs Procedimiento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492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Administración de 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064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Riesgos CID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6060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4688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Mantenimiento (4 tipos)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9260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Triada: Técnico · Legal · Ético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5204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3832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Privacidad vs Seguridad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9776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8404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Datos personales y tratamiento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4348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2976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Ley N° 29733 y sus principios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8920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7548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Derechos ARCO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3492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2120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Responsabilidad organizacional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806440"/>
            <a:ext cx="91440" cy="9144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6692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Sistema de Información · Unidad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64008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Bloque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GitHub Issues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18320" cy="40233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Calibri"/>
              </a:rPr>
              <a:t>Crear EXACTAMENTE: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8686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200" b="1">
                <a:solidFill>
                  <a:srgbClr val="1E3A5F"/>
                </a:solidFill>
                <a:latin typeface="Calibri"/>
              </a:rPr>
              <a:t>4 GitHub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84048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Ir al repositorio de la 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0624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Click en pestaña Issues → New 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572000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57200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Elegir plantilla Hallazgo 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37760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93776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Completar todos los campos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303520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30352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Agregar etiqueta hallazgo-si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669280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66928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Submit / Create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Sin código. Sin PRs. Sin ramas. Solo escribir, completar plantilla y publicar.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640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Bloque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¿Cómo se califica?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5176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Issue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Calibri"/>
              </a:rPr>
              <a:t>5 puntos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03120"/>
            <a:ext cx="265176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Issue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5176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Calibri"/>
              </a:rPr>
              <a:t>5 puntos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103120"/>
            <a:ext cx="265176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Issue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Calibri"/>
              </a:rPr>
              <a:t>5 puntos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2103120"/>
            <a:ext cx="265176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21945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Issue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599" y="2651760"/>
            <a:ext cx="22860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1E3A5F"/>
                </a:solidFill>
                <a:latin typeface="Calibri"/>
              </a:rPr>
              <a:t>5 puntos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114800"/>
            <a:ext cx="6675120" cy="1280160"/>
          </a:xfrm>
          <a:prstGeom prst="round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29768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E86A33"/>
                </a:solidFill>
                <a:latin typeface="Calibri"/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63440"/>
            <a:ext cx="6400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20 puntos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Cada Issue bien reportado correctamente vale 5 puntos.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No se penaliza por redacción, ortografía o terminología técnica.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640080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Para aprobar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0" b="1">
                <a:solidFill>
                  <a:srgbClr val="1E3A5F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E3A5F"/>
                </a:solidFill>
                <a:latin typeface="Calibri"/>
              </a:rPr>
              <a:t>de 20 puntos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91840"/>
            <a:ext cx="9418320" cy="256032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474720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💡 Lo importante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60520"/>
            <a:ext cx="73152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023360"/>
            <a:ext cx="8503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No necesitas encontrar todos los problemas.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526280"/>
            <a:ext cx="73152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389120"/>
            <a:ext cx="8503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La calidad del análisis importa más que la cantidad.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892040"/>
            <a:ext cx="73152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4754880"/>
            <a:ext cx="8503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4 Issues bien reportadas correctamente pueden darte 20/20.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257800"/>
            <a:ext cx="73152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5120640"/>
            <a:ext cx="8503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No se exige terminología académica perfecta.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623560"/>
            <a:ext cx="73152" cy="73152"/>
          </a:xfrm>
          <a:prstGeom prst="rect">
            <a:avLst/>
          </a:prstGeom>
          <a:solidFill>
            <a:srgbClr val="E86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5486400"/>
            <a:ext cx="8503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No se penaliza por redacción o estilo.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640080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86A33"/>
                </a:solidFill>
                <a:latin typeface="Calibri"/>
              </a:rPr>
              <a:t>Antes de entregar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Checklist del estudiante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274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4 Issues creadas en GitHub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2057400"/>
            <a:ext cx="274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59" y="20116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Cada Issue con etiqueta hallazgo-si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274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Hallazgo identificado y claro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697480"/>
            <a:ext cx="274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6517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Evidencia / ubicación incluida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274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Concepto relacionado mencionado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337560"/>
            <a:ext cx="274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59" y="32918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Justificación explica el problema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274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Impacto / riesgo descrito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977639"/>
            <a:ext cx="274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39319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Severidad asignada y justificada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17720"/>
            <a:ext cx="274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720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Propuesta de solución incluida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617720"/>
            <a:ext cx="274320" cy="274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45720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README con datos del estudiante completado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E86A33"/>
                </a:solidFill>
                <a:latin typeface="Calibri"/>
              </a:rPr>
              <a:t>¡Éxito en tu evaluación!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